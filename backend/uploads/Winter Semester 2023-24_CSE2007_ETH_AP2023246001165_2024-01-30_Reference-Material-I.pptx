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F00D8-A8DD-410C-8C1B-F11F827340BB}" type="datetimeFigureOut">
              <a:rPr lang="en-IN" smtClean="0"/>
              <a:t>25-01-2023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DB1A3A-EF76-4089-9479-2FECCF40A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39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396EE0E2-43A4-46B2-9851-0235E4B268AB}" type="datetime1">
              <a:rPr lang="en-US" smtClean="0"/>
              <a:t>1/25/2023</a:t>
            </a:fld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heavy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0F941785-7DA4-48A5-A551-B425B7CC0A10}" type="datetime1">
              <a:rPr lang="en-US" smtClean="0"/>
              <a:t>1/25/2023</a:t>
            </a:fld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heavy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54126A6B-08B7-42B5-970D-9279D1E0F72A}" type="datetime1">
              <a:rPr lang="en-US" smtClean="0"/>
              <a:t>1/25/2023</a:t>
            </a:fld>
            <a:endParaRPr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heavy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F1532280-B05E-409C-AA55-25A8A83DC8B9}" type="datetime1">
              <a:rPr lang="en-US" smtClean="0"/>
              <a:t>1/25/2023</a:t>
            </a:fld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FFC7D7B-841A-48FE-9F48-F62D0E8DDEF6}" type="datetime1">
              <a:rPr lang="en-US" smtClean="0"/>
              <a:t>1/25/2023</a:t>
            </a:fld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7244" y="518922"/>
            <a:ext cx="10357510" cy="951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heavy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6840" y="1771904"/>
            <a:ext cx="10418318" cy="2879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20614" y="6449170"/>
            <a:ext cx="1353184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244" y="6449170"/>
            <a:ext cx="812164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74107EF3-FE43-41BE-97FC-27B1E01EEB6F}" type="datetime1">
              <a:rPr lang="en-US" smtClean="0"/>
              <a:t>1/25/2023</a:t>
            </a:fld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56366" y="6449170"/>
            <a:ext cx="24701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2994" y="1355217"/>
            <a:ext cx="2046605" cy="1734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800" b="0" u="none" dirty="0">
                <a:solidFill>
                  <a:srgbClr val="00AF50"/>
                </a:solidFill>
                <a:latin typeface="Arial MT"/>
                <a:cs typeface="Arial MT"/>
              </a:rPr>
              <a:t>Course</a:t>
            </a:r>
            <a:r>
              <a:rPr sz="2800" b="0" u="none" spc="-10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800" b="0" u="none" spc="5" dirty="0">
                <a:solidFill>
                  <a:srgbClr val="00AF50"/>
                </a:solidFill>
                <a:latin typeface="Arial MT"/>
                <a:cs typeface="Arial MT"/>
              </a:rPr>
              <a:t>code </a:t>
            </a:r>
            <a:r>
              <a:rPr sz="2800" b="0" u="none" spc="-76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800" b="0" u="none" dirty="0">
                <a:solidFill>
                  <a:srgbClr val="00AF50"/>
                </a:solidFill>
                <a:latin typeface="Arial MT"/>
                <a:cs typeface="Arial MT"/>
              </a:rPr>
              <a:t>Course </a:t>
            </a:r>
            <a:r>
              <a:rPr sz="2800" b="0" u="none" spc="5" dirty="0">
                <a:solidFill>
                  <a:srgbClr val="00AF50"/>
                </a:solidFill>
                <a:latin typeface="Arial MT"/>
                <a:cs typeface="Arial MT"/>
              </a:rPr>
              <a:t>title </a:t>
            </a:r>
            <a:r>
              <a:rPr sz="2800" b="0" u="none" spc="1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800" b="0" u="none" dirty="0">
                <a:solidFill>
                  <a:srgbClr val="00AF50"/>
                </a:solidFill>
                <a:latin typeface="Arial MT"/>
                <a:cs typeface="Arial MT"/>
              </a:rPr>
              <a:t>Module </a:t>
            </a:r>
            <a:r>
              <a:rPr sz="2800" b="0" u="none" spc="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800" b="0" u="none" spc="-65" dirty="0">
                <a:solidFill>
                  <a:srgbClr val="00AF50"/>
                </a:solidFill>
                <a:latin typeface="Arial MT"/>
                <a:cs typeface="Arial MT"/>
              </a:rPr>
              <a:t>Topic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46828" y="1355217"/>
            <a:ext cx="5439410" cy="1734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AF50"/>
                </a:solidFill>
                <a:latin typeface="Arial MT"/>
                <a:cs typeface="Arial MT"/>
              </a:rPr>
              <a:t>:</a:t>
            </a:r>
            <a:r>
              <a:rPr sz="2800" spc="-4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00AF50"/>
                </a:solidFill>
                <a:latin typeface="Arial"/>
                <a:cs typeface="Arial"/>
              </a:rPr>
              <a:t>CSE2007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00AF50"/>
                </a:solidFill>
                <a:latin typeface="Arial MT"/>
                <a:cs typeface="Arial MT"/>
              </a:rPr>
              <a:t>:</a:t>
            </a:r>
            <a:r>
              <a:rPr sz="2800" spc="-1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00AF50"/>
                </a:solidFill>
                <a:latin typeface="Arial"/>
                <a:cs typeface="Arial"/>
              </a:rPr>
              <a:t>Database</a:t>
            </a:r>
            <a:r>
              <a:rPr sz="2800" b="1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AF50"/>
                </a:solidFill>
                <a:latin typeface="Arial"/>
                <a:cs typeface="Arial"/>
              </a:rPr>
              <a:t>Management</a:t>
            </a:r>
            <a:r>
              <a:rPr sz="2800" b="1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b="1" spc="-15" dirty="0">
                <a:solidFill>
                  <a:srgbClr val="00AF50"/>
                </a:solidFill>
                <a:latin typeface="Arial"/>
                <a:cs typeface="Arial"/>
              </a:rPr>
              <a:t>System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solidFill>
                  <a:srgbClr val="00AF50"/>
                </a:solidFill>
                <a:latin typeface="Arial MT"/>
                <a:cs typeface="Arial MT"/>
              </a:rPr>
              <a:t>:</a:t>
            </a:r>
            <a:r>
              <a:rPr sz="2800" spc="-9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00AF50"/>
                </a:solidFill>
                <a:latin typeface="Arial"/>
                <a:cs typeface="Arial"/>
              </a:rPr>
              <a:t>2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00AF50"/>
                </a:solidFill>
                <a:latin typeface="Arial MT"/>
                <a:cs typeface="Arial MT"/>
              </a:rPr>
              <a:t>:</a:t>
            </a:r>
            <a:r>
              <a:rPr sz="2800" spc="-10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800" b="1" spc="5" dirty="0">
                <a:solidFill>
                  <a:srgbClr val="00AF50"/>
                </a:solidFill>
                <a:latin typeface="Arial"/>
                <a:cs typeface="Arial"/>
              </a:rPr>
              <a:t>3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69183" y="3636086"/>
            <a:ext cx="621030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b="1" dirty="0">
                <a:solidFill>
                  <a:srgbClr val="006FC0"/>
                </a:solidFill>
                <a:latin typeface="Arial"/>
                <a:cs typeface="Arial"/>
              </a:rPr>
              <a:t>ER-to-Relational</a:t>
            </a:r>
            <a:r>
              <a:rPr sz="4000" b="1" spc="-9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006FC0"/>
                </a:solidFill>
                <a:latin typeface="Arial"/>
                <a:cs typeface="Arial"/>
              </a:rPr>
              <a:t>Mapping</a:t>
            </a:r>
            <a:endParaRPr sz="4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4320"/>
            <a:ext cx="1325879" cy="60014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51431C8-302C-4D0A-AA37-882812CC0E92}" type="datetime1">
              <a:rPr lang="en-US" smtClean="0"/>
              <a:t>1/25/2023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738073"/>
            <a:ext cx="206438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O</a:t>
            </a:r>
            <a:r>
              <a:rPr spc="-5" dirty="0"/>
              <a:t>bjec</a:t>
            </a:r>
            <a:r>
              <a:rPr spc="-25" dirty="0"/>
              <a:t>t</a:t>
            </a:r>
            <a:r>
              <a:rPr spc="-5" dirty="0"/>
              <a:t>i</a:t>
            </a:r>
            <a:r>
              <a:rPr spc="-80" dirty="0"/>
              <a:t>v</a:t>
            </a:r>
            <a:r>
              <a:rPr spc="-5" dirty="0"/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749044"/>
            <a:ext cx="5774055" cy="982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session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will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give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knowledge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about</a:t>
            </a:r>
            <a:endParaRPr sz="2400">
              <a:latin typeface="Arial MT"/>
              <a:cs typeface="Arial MT"/>
            </a:endParaRPr>
          </a:p>
          <a:p>
            <a:pPr marL="1009650" indent="-541020">
              <a:lnSpc>
                <a:spcPct val="100000"/>
              </a:lnSpc>
              <a:spcBef>
                <a:spcPts val="1775"/>
              </a:spcBef>
              <a:buChar char="•"/>
              <a:tabLst>
                <a:tab pos="1009650" algn="l"/>
                <a:tab pos="1010285" algn="l"/>
              </a:tabLst>
            </a:pPr>
            <a:r>
              <a:rPr sz="2400" dirty="0">
                <a:latin typeface="Arial MT"/>
                <a:cs typeface="Arial MT"/>
              </a:rPr>
              <a:t>ER-to-Relational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Mapping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4320"/>
            <a:ext cx="1325879" cy="6001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F4753FD0-ACE0-4DC2-A3D2-2C7F1E4B2B34}" type="datetime1">
              <a:rPr lang="en-US" smtClean="0"/>
              <a:t>1/25/2023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738073"/>
            <a:ext cx="238633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676269"/>
            <a:ext cx="10005695" cy="441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sz="2400" spc="5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ER </a:t>
            </a:r>
            <a:r>
              <a:rPr sz="2400" dirty="0">
                <a:latin typeface="Arial MT"/>
                <a:cs typeface="Arial MT"/>
              </a:rPr>
              <a:t>Model </a:t>
            </a:r>
            <a:r>
              <a:rPr sz="2400" spc="-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convenient </a:t>
            </a:r>
            <a:r>
              <a:rPr sz="2400" spc="10" dirty="0">
                <a:latin typeface="Arial MT"/>
                <a:cs typeface="Arial MT"/>
              </a:rPr>
              <a:t>for </a:t>
            </a:r>
            <a:r>
              <a:rPr sz="2400" dirty="0">
                <a:latin typeface="Arial MT"/>
                <a:cs typeface="Arial MT"/>
              </a:rPr>
              <a:t>representing an initial high-level database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design.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Arial MT"/>
              <a:cs typeface="Arial MT"/>
            </a:endParaRPr>
          </a:p>
          <a:p>
            <a:pPr marL="12700" marR="589915">
              <a:lnSpc>
                <a:spcPct val="120000"/>
              </a:lnSpc>
            </a:pP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does</a:t>
            </a:r>
            <a:r>
              <a:rPr sz="24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not</a:t>
            </a:r>
            <a:r>
              <a:rPr sz="24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have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details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about</a:t>
            </a:r>
            <a:r>
              <a:rPr sz="24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logical</a:t>
            </a:r>
            <a:r>
              <a:rPr sz="24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design</a:t>
            </a:r>
            <a:r>
              <a:rPr sz="2400" spc="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with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associated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constraints.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Arial MT"/>
              <a:cs typeface="Arial MT"/>
            </a:endParaRPr>
          </a:p>
          <a:p>
            <a:pPr marL="12700" marR="277495">
              <a:lnSpc>
                <a:spcPct val="12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Relational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describes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design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high-level</a:t>
            </a:r>
            <a:r>
              <a:rPr sz="2400" spc="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databased</a:t>
            </a: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with</a:t>
            </a:r>
            <a:r>
              <a:rPr sz="2400" spc="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in-depth </a:t>
            </a:r>
            <a:r>
              <a:rPr sz="2400" spc="-6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logical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design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with</a:t>
            </a:r>
            <a:r>
              <a:rPr sz="24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its</a:t>
            </a:r>
            <a:r>
              <a:rPr sz="24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constrains</a:t>
            </a:r>
            <a:r>
              <a:rPr sz="240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Hence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translation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ER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 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Relationship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necessary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4320"/>
            <a:ext cx="1325879" cy="6001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CA61FB13-75D0-4537-BA84-DA9AD7113C7A}" type="datetime1">
              <a:rPr lang="en-US" smtClean="0"/>
              <a:t>1/25/2023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738073"/>
            <a:ext cx="398526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Entity</a:t>
            </a:r>
            <a:r>
              <a:rPr spc="-20" dirty="0"/>
              <a:t> </a:t>
            </a:r>
            <a:r>
              <a:rPr spc="-5" dirty="0"/>
              <a:t>Sets</a:t>
            </a:r>
            <a:r>
              <a:rPr spc="-30" dirty="0"/>
              <a:t> </a:t>
            </a:r>
            <a:r>
              <a:rPr spc="-10" dirty="0"/>
              <a:t>to</a:t>
            </a:r>
            <a:r>
              <a:rPr spc="-15" dirty="0"/>
              <a:t> </a:t>
            </a:r>
            <a:r>
              <a:rPr spc="-45" dirty="0"/>
              <a:t>Tables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4320"/>
            <a:ext cx="1325879" cy="60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2043" y="1792427"/>
            <a:ext cx="5788682" cy="20661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45095" y="2136648"/>
            <a:ext cx="4011168" cy="151180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17244" y="4533681"/>
            <a:ext cx="6551930" cy="150114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2200" b="1" spc="-50" dirty="0">
                <a:latin typeface="Arial"/>
                <a:cs typeface="Arial"/>
              </a:rPr>
              <a:t>CREATE</a:t>
            </a:r>
            <a:r>
              <a:rPr sz="2200" b="1" spc="85" dirty="0">
                <a:latin typeface="Arial"/>
                <a:cs typeface="Arial"/>
              </a:rPr>
              <a:t> </a:t>
            </a:r>
            <a:r>
              <a:rPr sz="2200" b="1" spc="-55" dirty="0">
                <a:latin typeface="Arial"/>
                <a:cs typeface="Arial"/>
              </a:rPr>
              <a:t>TABLE</a:t>
            </a:r>
            <a:r>
              <a:rPr sz="2200" b="1" spc="114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Employees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ssn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b="1" spc="-25" dirty="0">
                <a:latin typeface="Arial"/>
                <a:cs typeface="Arial"/>
              </a:rPr>
              <a:t>CHAR(11)</a:t>
            </a:r>
            <a:r>
              <a:rPr sz="2200" spc="-25" dirty="0">
                <a:latin typeface="Arial MT"/>
                <a:cs typeface="Arial MT"/>
              </a:rPr>
              <a:t>,</a:t>
            </a:r>
            <a:endParaRPr sz="2200">
              <a:latin typeface="Arial MT"/>
              <a:cs typeface="Arial MT"/>
            </a:endParaRPr>
          </a:p>
          <a:p>
            <a:pPr marL="3750310">
              <a:lnSpc>
                <a:spcPct val="100000"/>
              </a:lnSpc>
              <a:spcBef>
                <a:spcPts val="260"/>
              </a:spcBef>
            </a:pPr>
            <a:r>
              <a:rPr sz="2200" dirty="0">
                <a:latin typeface="Arial MT"/>
                <a:cs typeface="Arial MT"/>
              </a:rPr>
              <a:t>name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b="1" spc="-10" dirty="0">
                <a:latin typeface="Arial"/>
                <a:cs typeface="Arial"/>
              </a:rPr>
              <a:t>CHAR(30)</a:t>
            </a:r>
            <a:r>
              <a:rPr sz="2200" spc="-10" dirty="0">
                <a:latin typeface="Arial MT"/>
                <a:cs typeface="Arial MT"/>
              </a:rPr>
              <a:t>,</a:t>
            </a:r>
            <a:endParaRPr sz="2200">
              <a:latin typeface="Arial MT"/>
              <a:cs typeface="Arial MT"/>
            </a:endParaRPr>
          </a:p>
          <a:p>
            <a:pPr marL="3750310">
              <a:lnSpc>
                <a:spcPct val="100000"/>
              </a:lnSpc>
              <a:spcBef>
                <a:spcPts val="270"/>
              </a:spcBef>
            </a:pPr>
            <a:r>
              <a:rPr sz="2200" spc="-5" dirty="0">
                <a:latin typeface="Arial MT"/>
                <a:cs typeface="Arial MT"/>
              </a:rPr>
              <a:t>lot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b="1" spc="-5" dirty="0">
                <a:latin typeface="Arial"/>
                <a:cs typeface="Arial"/>
              </a:rPr>
              <a:t>NUMBER(3)</a:t>
            </a:r>
            <a:r>
              <a:rPr sz="2200" spc="-5" dirty="0">
                <a:latin typeface="Arial MT"/>
                <a:cs typeface="Arial MT"/>
              </a:rPr>
              <a:t>,</a:t>
            </a:r>
            <a:endParaRPr sz="2200">
              <a:latin typeface="Arial MT"/>
              <a:cs typeface="Arial MT"/>
            </a:endParaRPr>
          </a:p>
          <a:p>
            <a:pPr marL="3750310">
              <a:lnSpc>
                <a:spcPct val="100000"/>
              </a:lnSpc>
              <a:spcBef>
                <a:spcPts val="265"/>
              </a:spcBef>
            </a:pPr>
            <a:r>
              <a:rPr sz="2200" b="1" spc="-25" dirty="0">
                <a:latin typeface="Arial"/>
                <a:cs typeface="Arial"/>
              </a:rPr>
              <a:t>PRIMARY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KEY</a:t>
            </a:r>
            <a:r>
              <a:rPr sz="2200" b="1" spc="-65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(ssn)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)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48F50277-7473-4D05-AA54-44428DF8FAEA}" type="datetime1">
              <a:rPr lang="en-US" smtClean="0"/>
              <a:t>1/25/2023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738073"/>
            <a:ext cx="947928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Relationship</a:t>
            </a:r>
            <a:r>
              <a:rPr dirty="0"/>
              <a:t> </a:t>
            </a:r>
            <a:r>
              <a:rPr spc="-5" dirty="0"/>
              <a:t>Sets</a:t>
            </a:r>
            <a:r>
              <a:rPr spc="20" dirty="0"/>
              <a:t> </a:t>
            </a:r>
            <a:r>
              <a:rPr dirty="0"/>
              <a:t>(without</a:t>
            </a:r>
            <a:r>
              <a:rPr spc="-55" dirty="0"/>
              <a:t> </a:t>
            </a:r>
            <a:r>
              <a:rPr spc="-10" dirty="0"/>
              <a:t>Constraints)</a:t>
            </a:r>
            <a:r>
              <a:rPr spc="40" dirty="0"/>
              <a:t> </a:t>
            </a:r>
            <a:r>
              <a:rPr spc="-5" dirty="0"/>
              <a:t>to</a:t>
            </a:r>
            <a:r>
              <a:rPr spc="-20" dirty="0"/>
              <a:t> </a:t>
            </a:r>
            <a:r>
              <a:rPr spc="-45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4476267"/>
            <a:ext cx="10156825" cy="162115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5033645" algn="l"/>
              </a:tabLst>
            </a:pPr>
            <a:r>
              <a:rPr sz="1900" b="1" spc="-35" dirty="0">
                <a:latin typeface="Arial"/>
                <a:cs typeface="Arial"/>
              </a:rPr>
              <a:t>CREATE</a:t>
            </a:r>
            <a:r>
              <a:rPr sz="1900" b="1" spc="65" dirty="0">
                <a:latin typeface="Arial"/>
                <a:cs typeface="Arial"/>
              </a:rPr>
              <a:t> </a:t>
            </a:r>
            <a:r>
              <a:rPr sz="1900" b="1" spc="-45" dirty="0">
                <a:latin typeface="Arial"/>
                <a:cs typeface="Arial"/>
              </a:rPr>
              <a:t>TABLE</a:t>
            </a:r>
            <a:r>
              <a:rPr sz="1900" b="1" spc="30" dirty="0">
                <a:latin typeface="Arial"/>
                <a:cs typeface="Arial"/>
              </a:rPr>
              <a:t> </a:t>
            </a:r>
            <a:r>
              <a:rPr sz="1900" spc="5" dirty="0">
                <a:latin typeface="Arial MT"/>
                <a:cs typeface="Arial MT"/>
              </a:rPr>
              <a:t>Works_In2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5" dirty="0">
                <a:latin typeface="Arial MT"/>
                <a:cs typeface="Arial MT"/>
              </a:rPr>
              <a:t>(</a:t>
            </a:r>
            <a:r>
              <a:rPr sz="1900" spc="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ssn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b="1" spc="-25" dirty="0">
                <a:latin typeface="Arial"/>
                <a:cs typeface="Arial"/>
              </a:rPr>
              <a:t>CHAR(11)</a:t>
            </a:r>
            <a:r>
              <a:rPr sz="1900" spc="-25" dirty="0">
                <a:latin typeface="Arial MT"/>
                <a:cs typeface="Arial MT"/>
              </a:rPr>
              <a:t>,	</a:t>
            </a:r>
            <a:r>
              <a:rPr sz="1900" dirty="0">
                <a:latin typeface="Arial MT"/>
                <a:cs typeface="Arial MT"/>
              </a:rPr>
              <a:t>did </a:t>
            </a:r>
            <a:r>
              <a:rPr sz="1900" b="1" dirty="0">
                <a:latin typeface="Arial"/>
                <a:cs typeface="Arial"/>
              </a:rPr>
              <a:t>NUMBER</a:t>
            </a:r>
            <a:r>
              <a:rPr sz="1900" dirty="0">
                <a:latin typeface="Arial MT"/>
                <a:cs typeface="Arial MT"/>
              </a:rPr>
              <a:t>,</a:t>
            </a:r>
            <a:r>
              <a:rPr sz="1900" spc="-5" dirty="0">
                <a:latin typeface="Arial MT"/>
                <a:cs typeface="Arial MT"/>
              </a:rPr>
              <a:t> address</a:t>
            </a:r>
            <a:r>
              <a:rPr sz="1900" spc="45" dirty="0">
                <a:latin typeface="Arial MT"/>
                <a:cs typeface="Arial MT"/>
              </a:rPr>
              <a:t> </a:t>
            </a:r>
            <a:r>
              <a:rPr sz="1900" b="1" spc="-15" dirty="0">
                <a:latin typeface="Arial"/>
                <a:cs typeface="Arial"/>
              </a:rPr>
              <a:t>CHAR(20)</a:t>
            </a:r>
            <a:r>
              <a:rPr sz="1900" spc="-15" dirty="0">
                <a:latin typeface="Arial MT"/>
                <a:cs typeface="Arial MT"/>
              </a:rPr>
              <a:t>,</a:t>
            </a:r>
            <a:r>
              <a:rPr sz="1900" spc="9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since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b="1" spc="-40" dirty="0">
                <a:latin typeface="Arial"/>
                <a:cs typeface="Arial"/>
              </a:rPr>
              <a:t>DATE</a:t>
            </a:r>
            <a:r>
              <a:rPr sz="1900" spc="-40" dirty="0">
                <a:latin typeface="Arial MT"/>
                <a:cs typeface="Arial MT"/>
              </a:rPr>
              <a:t>,</a:t>
            </a:r>
            <a:endParaRPr sz="1900">
              <a:latin typeface="Arial MT"/>
              <a:cs typeface="Arial MT"/>
            </a:endParaRPr>
          </a:p>
          <a:p>
            <a:pPr marL="3670935">
              <a:lnSpc>
                <a:spcPct val="100000"/>
              </a:lnSpc>
              <a:spcBef>
                <a:spcPts val="245"/>
              </a:spcBef>
            </a:pPr>
            <a:r>
              <a:rPr sz="1900" b="1" spc="-20" dirty="0">
                <a:latin typeface="Arial"/>
                <a:cs typeface="Arial"/>
              </a:rPr>
              <a:t>PRIMARY</a:t>
            </a:r>
            <a:r>
              <a:rPr sz="1900" b="1" spc="5" dirty="0">
                <a:latin typeface="Arial"/>
                <a:cs typeface="Arial"/>
              </a:rPr>
              <a:t> </a:t>
            </a:r>
            <a:r>
              <a:rPr sz="1900" b="1" spc="-5" dirty="0">
                <a:latin typeface="Arial"/>
                <a:cs typeface="Arial"/>
              </a:rPr>
              <a:t>KEY</a:t>
            </a:r>
            <a:r>
              <a:rPr sz="1900" b="1" spc="-25" dirty="0">
                <a:latin typeface="Arial"/>
                <a:cs typeface="Arial"/>
              </a:rPr>
              <a:t> </a:t>
            </a:r>
            <a:r>
              <a:rPr sz="1900" dirty="0">
                <a:latin typeface="Arial MT"/>
                <a:cs typeface="Arial MT"/>
              </a:rPr>
              <a:t>(ssn,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did,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spc="-5" dirty="0">
                <a:latin typeface="Arial MT"/>
                <a:cs typeface="Arial MT"/>
              </a:rPr>
              <a:t>address),</a:t>
            </a:r>
            <a:endParaRPr sz="1900">
              <a:latin typeface="Arial MT"/>
              <a:cs typeface="Arial MT"/>
            </a:endParaRPr>
          </a:p>
          <a:p>
            <a:pPr marL="3670935">
              <a:lnSpc>
                <a:spcPct val="100000"/>
              </a:lnSpc>
              <a:spcBef>
                <a:spcPts val="215"/>
              </a:spcBef>
            </a:pPr>
            <a:r>
              <a:rPr sz="1900" b="1" spc="-10" dirty="0">
                <a:latin typeface="Arial"/>
                <a:cs typeface="Arial"/>
              </a:rPr>
              <a:t>FOREIGN</a:t>
            </a:r>
            <a:r>
              <a:rPr sz="1900" b="1" spc="15" dirty="0">
                <a:latin typeface="Arial"/>
                <a:cs typeface="Arial"/>
              </a:rPr>
              <a:t> </a:t>
            </a:r>
            <a:r>
              <a:rPr sz="1900" b="1" spc="-5" dirty="0">
                <a:latin typeface="Arial"/>
                <a:cs typeface="Arial"/>
              </a:rPr>
              <a:t>KEY</a:t>
            </a:r>
            <a:r>
              <a:rPr sz="1900" b="1" spc="-50" dirty="0">
                <a:latin typeface="Arial"/>
                <a:cs typeface="Arial"/>
              </a:rPr>
              <a:t> </a:t>
            </a:r>
            <a:r>
              <a:rPr sz="1900" dirty="0">
                <a:latin typeface="Arial MT"/>
                <a:cs typeface="Arial MT"/>
              </a:rPr>
              <a:t>(ssn)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b="1" spc="-5" dirty="0">
                <a:latin typeface="Arial"/>
                <a:cs typeface="Arial"/>
              </a:rPr>
              <a:t>REFERENCES </a:t>
            </a:r>
            <a:r>
              <a:rPr sz="1900" spc="-5" dirty="0">
                <a:latin typeface="Arial MT"/>
                <a:cs typeface="Arial MT"/>
              </a:rPr>
              <a:t>Employees,</a:t>
            </a:r>
            <a:endParaRPr sz="1900">
              <a:latin typeface="Arial MT"/>
              <a:cs typeface="Arial MT"/>
            </a:endParaRPr>
          </a:p>
          <a:p>
            <a:pPr marL="3670935">
              <a:lnSpc>
                <a:spcPct val="100000"/>
              </a:lnSpc>
              <a:spcBef>
                <a:spcPts val="240"/>
              </a:spcBef>
            </a:pPr>
            <a:r>
              <a:rPr sz="1900" b="1" spc="-10" dirty="0">
                <a:latin typeface="Arial"/>
                <a:cs typeface="Arial"/>
              </a:rPr>
              <a:t>FOREIGN</a:t>
            </a:r>
            <a:r>
              <a:rPr sz="1900" b="1" spc="15" dirty="0">
                <a:latin typeface="Arial"/>
                <a:cs typeface="Arial"/>
              </a:rPr>
              <a:t> </a:t>
            </a:r>
            <a:r>
              <a:rPr sz="1900" b="1" spc="-5" dirty="0">
                <a:latin typeface="Arial"/>
                <a:cs typeface="Arial"/>
              </a:rPr>
              <a:t>KEY</a:t>
            </a:r>
            <a:r>
              <a:rPr sz="1900" b="1" spc="-35" dirty="0">
                <a:latin typeface="Arial"/>
                <a:cs typeface="Arial"/>
              </a:rPr>
              <a:t> </a:t>
            </a:r>
            <a:r>
              <a:rPr sz="1900" spc="-5" dirty="0">
                <a:latin typeface="Arial MT"/>
                <a:cs typeface="Arial MT"/>
              </a:rPr>
              <a:t>(address)</a:t>
            </a:r>
            <a:r>
              <a:rPr sz="1900" spc="50" dirty="0">
                <a:latin typeface="Arial MT"/>
                <a:cs typeface="Arial MT"/>
              </a:rPr>
              <a:t> </a:t>
            </a:r>
            <a:r>
              <a:rPr sz="1900" b="1" spc="-5" dirty="0">
                <a:latin typeface="Arial"/>
                <a:cs typeface="Arial"/>
              </a:rPr>
              <a:t>REFERENCES</a:t>
            </a:r>
            <a:r>
              <a:rPr sz="1900" b="1" spc="10" dirty="0">
                <a:latin typeface="Arial"/>
                <a:cs typeface="Arial"/>
              </a:rPr>
              <a:t> </a:t>
            </a:r>
            <a:r>
              <a:rPr sz="1900" dirty="0">
                <a:latin typeface="Arial MT"/>
                <a:cs typeface="Arial MT"/>
              </a:rPr>
              <a:t>Locations,</a:t>
            </a:r>
            <a:endParaRPr sz="1900">
              <a:latin typeface="Arial MT"/>
              <a:cs typeface="Arial MT"/>
            </a:endParaRPr>
          </a:p>
          <a:p>
            <a:pPr marL="3670935">
              <a:lnSpc>
                <a:spcPct val="100000"/>
              </a:lnSpc>
              <a:spcBef>
                <a:spcPts val="220"/>
              </a:spcBef>
            </a:pPr>
            <a:r>
              <a:rPr sz="1900" b="1" spc="-10" dirty="0">
                <a:latin typeface="Arial"/>
                <a:cs typeface="Arial"/>
              </a:rPr>
              <a:t>FOREIGN</a:t>
            </a:r>
            <a:r>
              <a:rPr sz="1900" b="1" spc="20" dirty="0">
                <a:latin typeface="Arial"/>
                <a:cs typeface="Arial"/>
              </a:rPr>
              <a:t> </a:t>
            </a:r>
            <a:r>
              <a:rPr sz="1900" b="1" spc="-5" dirty="0">
                <a:latin typeface="Arial"/>
                <a:cs typeface="Arial"/>
              </a:rPr>
              <a:t>KEY</a:t>
            </a:r>
            <a:r>
              <a:rPr sz="1900" b="1" spc="-50" dirty="0">
                <a:latin typeface="Arial"/>
                <a:cs typeface="Arial"/>
              </a:rPr>
              <a:t> </a:t>
            </a:r>
            <a:r>
              <a:rPr sz="1900" spc="-5" dirty="0">
                <a:latin typeface="Arial MT"/>
                <a:cs typeface="Arial MT"/>
              </a:rPr>
              <a:t>(did)</a:t>
            </a:r>
            <a:r>
              <a:rPr sz="1900" spc="15" dirty="0">
                <a:latin typeface="Arial MT"/>
                <a:cs typeface="Arial MT"/>
              </a:rPr>
              <a:t> </a:t>
            </a:r>
            <a:r>
              <a:rPr sz="1900" b="1" spc="-5" dirty="0">
                <a:latin typeface="Arial"/>
                <a:cs typeface="Arial"/>
              </a:rPr>
              <a:t>REFERENCES</a:t>
            </a:r>
            <a:r>
              <a:rPr sz="1900" b="1" spc="15" dirty="0">
                <a:latin typeface="Arial"/>
                <a:cs typeface="Arial"/>
              </a:rPr>
              <a:t> </a:t>
            </a:r>
            <a:r>
              <a:rPr sz="1900" spc="-5" dirty="0">
                <a:latin typeface="Arial MT"/>
                <a:cs typeface="Arial MT"/>
              </a:rPr>
              <a:t>Departments</a:t>
            </a:r>
            <a:r>
              <a:rPr sz="1900" spc="75" dirty="0">
                <a:latin typeface="Arial MT"/>
                <a:cs typeface="Arial MT"/>
              </a:rPr>
              <a:t> </a:t>
            </a:r>
            <a:r>
              <a:rPr sz="1900" spc="-5" dirty="0">
                <a:latin typeface="Arial MT"/>
                <a:cs typeface="Arial MT"/>
              </a:rPr>
              <a:t>)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4320"/>
            <a:ext cx="1325879" cy="600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2460" y="1789366"/>
            <a:ext cx="7233198" cy="24268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D96D22E7-3F3D-48A2-ACCF-271F768C4401}" type="datetime1">
              <a:rPr lang="en-US" smtClean="0"/>
              <a:t>1/25/2023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738073"/>
            <a:ext cx="947928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Relationship</a:t>
            </a:r>
            <a:r>
              <a:rPr dirty="0"/>
              <a:t> </a:t>
            </a:r>
            <a:r>
              <a:rPr spc="-5" dirty="0"/>
              <a:t>Sets</a:t>
            </a:r>
            <a:r>
              <a:rPr spc="20" dirty="0"/>
              <a:t> </a:t>
            </a:r>
            <a:r>
              <a:rPr dirty="0"/>
              <a:t>(without</a:t>
            </a:r>
            <a:r>
              <a:rPr spc="-55" dirty="0"/>
              <a:t> </a:t>
            </a:r>
            <a:r>
              <a:rPr spc="-10" dirty="0"/>
              <a:t>Constraints)</a:t>
            </a:r>
            <a:r>
              <a:rPr spc="40" dirty="0"/>
              <a:t> </a:t>
            </a:r>
            <a:r>
              <a:rPr spc="-5" dirty="0"/>
              <a:t>to</a:t>
            </a:r>
            <a:r>
              <a:rPr spc="-20" dirty="0"/>
              <a:t> </a:t>
            </a:r>
            <a:r>
              <a:rPr spc="-45" dirty="0"/>
              <a:t>Tables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1135" marR="2245995" indent="-914400">
              <a:lnSpc>
                <a:spcPct val="130000"/>
              </a:lnSpc>
              <a:spcBef>
                <a:spcPts val="100"/>
              </a:spcBef>
            </a:pPr>
            <a:r>
              <a:rPr b="1" spc="-35" dirty="0">
                <a:latin typeface="Arial"/>
                <a:cs typeface="Arial"/>
              </a:rPr>
              <a:t>CREATE</a:t>
            </a:r>
            <a:r>
              <a:rPr b="1" spc="45" dirty="0">
                <a:latin typeface="Arial"/>
                <a:cs typeface="Arial"/>
              </a:rPr>
              <a:t> </a:t>
            </a:r>
            <a:r>
              <a:rPr b="1" spc="-40" dirty="0">
                <a:latin typeface="Arial"/>
                <a:cs typeface="Arial"/>
              </a:rPr>
              <a:t>TABLE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spc="-20" dirty="0"/>
              <a:t>Reports_To</a:t>
            </a:r>
            <a:r>
              <a:rPr spc="-30" dirty="0"/>
              <a:t> </a:t>
            </a:r>
            <a:r>
              <a:rPr b="1" dirty="0">
                <a:latin typeface="Arial"/>
                <a:cs typeface="Arial"/>
              </a:rPr>
              <a:t>( 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dirty="0"/>
              <a:t>Supervisor_ssn </a:t>
            </a:r>
            <a:r>
              <a:rPr b="1" spc="-15" dirty="0">
                <a:latin typeface="Arial"/>
                <a:cs typeface="Arial"/>
              </a:rPr>
              <a:t>CHAR(11), 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Subordinate_ssn</a:t>
            </a:r>
            <a:r>
              <a:rPr spc="-120" dirty="0"/>
              <a:t> </a:t>
            </a:r>
            <a:r>
              <a:rPr b="1" spc="-15" dirty="0">
                <a:latin typeface="Arial"/>
                <a:cs typeface="Arial"/>
              </a:rPr>
              <a:t>CHAR(11),</a:t>
            </a:r>
          </a:p>
          <a:p>
            <a:pPr marL="5271135" marR="5080">
              <a:lnSpc>
                <a:spcPts val="2810"/>
              </a:lnSpc>
              <a:spcBef>
                <a:spcPts val="200"/>
              </a:spcBef>
            </a:pPr>
            <a:r>
              <a:rPr b="1" spc="-15" dirty="0">
                <a:latin typeface="Arial"/>
                <a:cs typeface="Arial"/>
              </a:rPr>
              <a:t>PRIMARY</a:t>
            </a:r>
            <a:r>
              <a:rPr b="1" spc="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KEY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</a:t>
            </a:r>
            <a:r>
              <a:rPr dirty="0"/>
              <a:t>supervisor_ssn</a:t>
            </a:r>
            <a:r>
              <a:rPr b="1" dirty="0">
                <a:latin typeface="Arial"/>
                <a:cs typeface="Arial"/>
              </a:rPr>
              <a:t>,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dirty="0"/>
              <a:t>subordinate</a:t>
            </a:r>
            <a:r>
              <a:rPr spc="-40" dirty="0"/>
              <a:t> </a:t>
            </a:r>
            <a:r>
              <a:rPr dirty="0"/>
              <a:t>ssn</a:t>
            </a:r>
            <a:r>
              <a:rPr b="1" dirty="0">
                <a:latin typeface="Arial"/>
                <a:cs typeface="Arial"/>
              </a:rPr>
              <a:t>), </a:t>
            </a:r>
            <a:r>
              <a:rPr b="1" spc="-484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FOREIGN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KEY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</a:t>
            </a:r>
            <a:r>
              <a:rPr dirty="0"/>
              <a:t>supervisor_ssn</a:t>
            </a:r>
            <a:r>
              <a:rPr b="1" dirty="0">
                <a:latin typeface="Arial"/>
                <a:cs typeface="Arial"/>
              </a:rPr>
              <a:t>)</a:t>
            </a:r>
            <a:r>
              <a:rPr b="1" spc="-7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REFERENCES</a:t>
            </a:r>
          </a:p>
          <a:p>
            <a:pPr marL="4356735">
              <a:lnSpc>
                <a:spcPct val="100000"/>
              </a:lnSpc>
              <a:spcBef>
                <a:spcPts val="445"/>
              </a:spcBef>
            </a:pPr>
            <a:r>
              <a:rPr dirty="0"/>
              <a:t>Employees</a:t>
            </a:r>
            <a:r>
              <a:rPr b="1" dirty="0">
                <a:latin typeface="Arial"/>
                <a:cs typeface="Arial"/>
              </a:rPr>
              <a:t>(</a:t>
            </a:r>
            <a:r>
              <a:rPr dirty="0"/>
              <a:t>ssn</a:t>
            </a:r>
            <a:r>
              <a:rPr b="1" dirty="0">
                <a:latin typeface="Arial"/>
                <a:cs typeface="Arial"/>
              </a:rPr>
              <a:t>),</a:t>
            </a:r>
          </a:p>
          <a:p>
            <a:pPr marL="5271135">
              <a:lnSpc>
                <a:spcPct val="100000"/>
              </a:lnSpc>
              <a:spcBef>
                <a:spcPts val="650"/>
              </a:spcBef>
            </a:pPr>
            <a:r>
              <a:rPr b="1" spc="-5" dirty="0">
                <a:latin typeface="Arial"/>
                <a:cs typeface="Arial"/>
              </a:rPr>
              <a:t>FOREIGN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KEY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</a:t>
            </a:r>
            <a:r>
              <a:rPr dirty="0"/>
              <a:t>subordinate</a:t>
            </a:r>
            <a:r>
              <a:rPr spc="-45" dirty="0"/>
              <a:t> </a:t>
            </a:r>
            <a:r>
              <a:rPr spc="5" dirty="0"/>
              <a:t>ssn</a:t>
            </a:r>
            <a:r>
              <a:rPr b="1" spc="5" dirty="0">
                <a:latin typeface="Arial"/>
                <a:cs typeface="Arial"/>
              </a:rPr>
              <a:t>)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REFERENCES</a:t>
            </a:r>
          </a:p>
          <a:p>
            <a:pPr marL="4356735">
              <a:lnSpc>
                <a:spcPct val="100000"/>
              </a:lnSpc>
              <a:spcBef>
                <a:spcPts val="650"/>
              </a:spcBef>
            </a:pPr>
            <a:r>
              <a:rPr dirty="0"/>
              <a:t>Employees</a:t>
            </a:r>
            <a:r>
              <a:rPr b="1" dirty="0">
                <a:latin typeface="Arial"/>
                <a:cs typeface="Arial"/>
              </a:rPr>
              <a:t>(</a:t>
            </a:r>
            <a:r>
              <a:rPr dirty="0"/>
              <a:t>ssn</a:t>
            </a:r>
            <a:r>
              <a:rPr b="1" dirty="0">
                <a:latin typeface="Arial"/>
                <a:cs typeface="Arial"/>
              </a:rPr>
              <a:t>)</a:t>
            </a:r>
            <a:r>
              <a:rPr b="1" spc="-114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4320"/>
            <a:ext cx="1325879" cy="600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2387" y="1818242"/>
            <a:ext cx="4102070" cy="362500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564B6798-176D-463A-BD3C-E1E92AB3A592}" type="datetime1">
              <a:rPr lang="en-US" smtClean="0"/>
              <a:t>1/25/2023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738073"/>
            <a:ext cx="984694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Translating</a:t>
            </a:r>
            <a:r>
              <a:rPr spc="10" dirty="0"/>
              <a:t> </a:t>
            </a:r>
            <a:r>
              <a:rPr spc="-10" dirty="0"/>
              <a:t>Relationship</a:t>
            </a:r>
            <a:r>
              <a:rPr spc="10" dirty="0"/>
              <a:t> </a:t>
            </a:r>
            <a:r>
              <a:rPr spc="-5" dirty="0"/>
              <a:t>Sets</a:t>
            </a:r>
            <a:r>
              <a:rPr spc="5" dirty="0"/>
              <a:t> </a:t>
            </a:r>
            <a:r>
              <a:rPr spc="15" dirty="0"/>
              <a:t>with</a:t>
            </a:r>
            <a:r>
              <a:rPr spc="-55" dirty="0"/>
              <a:t> </a:t>
            </a:r>
            <a:r>
              <a:rPr spc="-5" dirty="0"/>
              <a:t>Key</a:t>
            </a:r>
            <a:r>
              <a:rPr spc="10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4262205"/>
            <a:ext cx="9497060" cy="16103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000" b="1" spc="-40" dirty="0">
                <a:latin typeface="Arial"/>
                <a:cs typeface="Arial"/>
              </a:rPr>
              <a:t>CREATE</a:t>
            </a:r>
            <a:r>
              <a:rPr sz="2000" b="1" spc="80" dirty="0">
                <a:latin typeface="Arial"/>
                <a:cs typeface="Arial"/>
              </a:rPr>
              <a:t> </a:t>
            </a:r>
            <a:r>
              <a:rPr sz="2000" b="1" spc="-45" dirty="0">
                <a:latin typeface="Arial"/>
                <a:cs typeface="Arial"/>
              </a:rPr>
              <a:t>TABLE</a:t>
            </a:r>
            <a:r>
              <a:rPr sz="2000" b="1" spc="95" dirty="0">
                <a:latin typeface="Arial"/>
                <a:cs typeface="Arial"/>
              </a:rPr>
              <a:t> </a:t>
            </a:r>
            <a:r>
              <a:rPr sz="2000" spc="-10" dirty="0">
                <a:latin typeface="Arial MT"/>
                <a:cs typeface="Arial MT"/>
              </a:rPr>
              <a:t>Manages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b="1" spc="-5" dirty="0">
                <a:latin typeface="Arial"/>
                <a:cs typeface="Arial"/>
              </a:rPr>
              <a:t>(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ssn </a:t>
            </a:r>
            <a:r>
              <a:rPr sz="2000" b="1" spc="-30" dirty="0">
                <a:latin typeface="Arial"/>
                <a:cs typeface="Arial"/>
              </a:rPr>
              <a:t>CHAR(11),</a:t>
            </a:r>
            <a:r>
              <a:rPr sz="2000" b="1" spc="90" dirty="0">
                <a:latin typeface="Arial"/>
                <a:cs typeface="Arial"/>
              </a:rPr>
              <a:t> </a:t>
            </a:r>
            <a:r>
              <a:rPr sz="2000" spc="-10" dirty="0">
                <a:latin typeface="Arial MT"/>
                <a:cs typeface="Arial MT"/>
              </a:rPr>
              <a:t>did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b="1" spc="-5" dirty="0">
                <a:latin typeface="Arial"/>
                <a:cs typeface="Arial"/>
              </a:rPr>
              <a:t>INTEGER,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since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b="1" spc="-45" dirty="0">
                <a:latin typeface="Arial"/>
                <a:cs typeface="Arial"/>
              </a:rPr>
              <a:t>DATE,</a:t>
            </a:r>
            <a:endParaRPr sz="2000">
              <a:latin typeface="Arial"/>
              <a:cs typeface="Arial"/>
            </a:endParaRPr>
          </a:p>
          <a:p>
            <a:pPr marL="3670935">
              <a:lnSpc>
                <a:spcPct val="100000"/>
              </a:lnSpc>
              <a:spcBef>
                <a:spcPts val="720"/>
              </a:spcBef>
            </a:pPr>
            <a:r>
              <a:rPr sz="2000" b="1" spc="-25" dirty="0">
                <a:latin typeface="Arial"/>
                <a:cs typeface="Arial"/>
              </a:rPr>
              <a:t>PRIMARY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KEY </a:t>
            </a:r>
            <a:r>
              <a:rPr sz="2000" b="1" spc="-5" dirty="0">
                <a:latin typeface="Arial"/>
                <a:cs typeface="Arial"/>
              </a:rPr>
              <a:t>(</a:t>
            </a:r>
            <a:r>
              <a:rPr sz="2000" spc="-5" dirty="0">
                <a:latin typeface="Arial MT"/>
                <a:cs typeface="Arial MT"/>
              </a:rPr>
              <a:t>did</a:t>
            </a:r>
            <a:r>
              <a:rPr sz="2000" b="1" spc="-5" dirty="0">
                <a:latin typeface="Arial"/>
                <a:cs typeface="Arial"/>
              </a:rPr>
              <a:t>),</a:t>
            </a:r>
            <a:endParaRPr sz="2000">
              <a:latin typeface="Arial"/>
              <a:cs typeface="Arial"/>
            </a:endParaRPr>
          </a:p>
          <a:p>
            <a:pPr marL="3670935">
              <a:lnSpc>
                <a:spcPct val="100000"/>
              </a:lnSpc>
              <a:spcBef>
                <a:spcPts val="725"/>
              </a:spcBef>
            </a:pPr>
            <a:r>
              <a:rPr sz="2000" b="1" spc="-10" dirty="0">
                <a:latin typeface="Arial"/>
                <a:cs typeface="Arial"/>
              </a:rPr>
              <a:t>FOREIGN</a:t>
            </a:r>
            <a:r>
              <a:rPr sz="2000" b="1" spc="2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KEY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</a:t>
            </a:r>
            <a:r>
              <a:rPr sz="2000" dirty="0">
                <a:latin typeface="Arial MT"/>
                <a:cs typeface="Arial MT"/>
              </a:rPr>
              <a:t>ssn</a:t>
            </a:r>
            <a:r>
              <a:rPr sz="2000" b="1" dirty="0">
                <a:latin typeface="Arial"/>
                <a:cs typeface="Arial"/>
              </a:rPr>
              <a:t>)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REFERENCES</a:t>
            </a:r>
            <a:r>
              <a:rPr sz="2000" b="1" spc="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 MT"/>
                <a:cs typeface="Arial MT"/>
              </a:rPr>
              <a:t>Employees</a:t>
            </a:r>
            <a:r>
              <a:rPr sz="2000" b="1" spc="-10" dirty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  <a:p>
            <a:pPr marL="3670935">
              <a:lnSpc>
                <a:spcPct val="100000"/>
              </a:lnSpc>
              <a:spcBef>
                <a:spcPts val="720"/>
              </a:spcBef>
            </a:pPr>
            <a:r>
              <a:rPr sz="2000" b="1" spc="-5" dirty="0">
                <a:latin typeface="Arial"/>
                <a:cs typeface="Arial"/>
              </a:rPr>
              <a:t>FOREIGN</a:t>
            </a:r>
            <a:r>
              <a:rPr sz="2000" b="1" spc="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KEY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(</a:t>
            </a:r>
            <a:r>
              <a:rPr sz="2000" spc="-10" dirty="0">
                <a:latin typeface="Arial MT"/>
                <a:cs typeface="Arial MT"/>
              </a:rPr>
              <a:t>did</a:t>
            </a:r>
            <a:r>
              <a:rPr sz="2000" b="1" spc="-10" dirty="0">
                <a:latin typeface="Arial"/>
                <a:cs typeface="Arial"/>
              </a:rPr>
              <a:t>)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REFERENCES</a:t>
            </a:r>
            <a:r>
              <a:rPr sz="2000" b="1" spc="114" dirty="0"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Departments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b="1" spc="-5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4320"/>
            <a:ext cx="1325879" cy="6126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7746" y="1765450"/>
            <a:ext cx="8850935" cy="225650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ACE16A9D-D4CD-4F4D-964A-09D67195B87B}" type="datetime1">
              <a:rPr lang="en-US" smtClean="0"/>
              <a:t>1/25/2023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25"/>
              </a:spcBef>
            </a:pPr>
            <a:r>
              <a:rPr spc="-25" dirty="0"/>
              <a:t>Translating </a:t>
            </a:r>
            <a:r>
              <a:rPr spc="-10" dirty="0"/>
              <a:t>Relationship </a:t>
            </a:r>
            <a:r>
              <a:rPr spc="-5" dirty="0"/>
              <a:t>Sets </a:t>
            </a:r>
            <a:r>
              <a:rPr spc="15" dirty="0"/>
              <a:t>with </a:t>
            </a:r>
            <a:r>
              <a:rPr spc="-5" dirty="0"/>
              <a:t>Participation </a:t>
            </a:r>
            <a:r>
              <a:rPr u="none" spc="-880" dirty="0"/>
              <a:t> </a:t>
            </a:r>
            <a:r>
              <a:rPr spc="-10" dirty="0"/>
              <a:t>Constraints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4320"/>
            <a:ext cx="1325879" cy="600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4014" y="1761344"/>
            <a:ext cx="7991848" cy="414301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59F62309-2E73-4B5F-A988-4021B610D307}" type="datetime1">
              <a:rPr lang="en-US" smtClean="0"/>
              <a:t>1/25/2023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25"/>
              </a:spcBef>
            </a:pPr>
            <a:r>
              <a:rPr spc="-25" dirty="0"/>
              <a:t>Translating </a:t>
            </a:r>
            <a:r>
              <a:rPr spc="-10" dirty="0"/>
              <a:t>Relationship </a:t>
            </a:r>
            <a:r>
              <a:rPr spc="-5" dirty="0"/>
              <a:t>Sets </a:t>
            </a:r>
            <a:r>
              <a:rPr spc="15" dirty="0"/>
              <a:t>with </a:t>
            </a:r>
            <a:r>
              <a:rPr spc="-5" dirty="0"/>
              <a:t>Participation </a:t>
            </a:r>
            <a:r>
              <a:rPr u="none" spc="-880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676269"/>
            <a:ext cx="10304145" cy="353822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b="1" spc="-45" dirty="0">
                <a:latin typeface="Arial"/>
                <a:cs typeface="Arial"/>
              </a:rPr>
              <a:t>CREATE</a:t>
            </a:r>
            <a:r>
              <a:rPr sz="2400" b="1" spc="70" dirty="0">
                <a:latin typeface="Arial"/>
                <a:cs typeface="Arial"/>
              </a:rPr>
              <a:t> </a:t>
            </a:r>
            <a:r>
              <a:rPr sz="2400" b="1" spc="-55" dirty="0">
                <a:latin typeface="Arial"/>
                <a:cs typeface="Arial"/>
              </a:rPr>
              <a:t>TABLE</a:t>
            </a:r>
            <a:r>
              <a:rPr sz="2400" b="1" spc="6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Dept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Mgr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spc="-5" dirty="0">
                <a:latin typeface="Arial MT"/>
                <a:cs typeface="Arial MT"/>
              </a:rPr>
              <a:t> did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b="1" spc="-5" dirty="0">
                <a:latin typeface="Arial"/>
                <a:cs typeface="Arial"/>
              </a:rPr>
              <a:t>NUMBER</a:t>
            </a:r>
            <a:r>
              <a:rPr sz="2400" spc="-5" dirty="0">
                <a:latin typeface="Arial MT"/>
                <a:cs typeface="Arial MT"/>
              </a:rPr>
              <a:t>,</a:t>
            </a:r>
            <a:endParaRPr sz="2400">
              <a:latin typeface="Arial MT"/>
              <a:cs typeface="Arial MT"/>
            </a:endParaRPr>
          </a:p>
          <a:p>
            <a:pPr marL="3670935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 MT"/>
                <a:cs typeface="Arial MT"/>
              </a:rPr>
              <a:t>dname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spc="-25" dirty="0">
                <a:latin typeface="Arial"/>
                <a:cs typeface="Arial"/>
              </a:rPr>
              <a:t>VARCHAR2(20)</a:t>
            </a:r>
            <a:r>
              <a:rPr sz="2400" spc="-25" dirty="0">
                <a:latin typeface="Arial MT"/>
                <a:cs typeface="Arial MT"/>
              </a:rPr>
              <a:t>,</a:t>
            </a:r>
            <a:endParaRPr sz="2400">
              <a:latin typeface="Arial MT"/>
              <a:cs typeface="Arial MT"/>
            </a:endParaRPr>
          </a:p>
          <a:p>
            <a:pPr marL="3670935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Arial MT"/>
                <a:cs typeface="Arial MT"/>
              </a:rPr>
              <a:t>budget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b="1" spc="-5" dirty="0">
                <a:latin typeface="Arial"/>
                <a:cs typeface="Arial"/>
              </a:rPr>
              <a:t>NUMBER(5,2)</a:t>
            </a:r>
            <a:r>
              <a:rPr sz="2400" spc="-5" dirty="0">
                <a:latin typeface="Arial MT"/>
                <a:cs typeface="Arial MT"/>
              </a:rPr>
              <a:t>,</a:t>
            </a:r>
            <a:endParaRPr sz="2400">
              <a:latin typeface="Arial MT"/>
              <a:cs typeface="Arial MT"/>
            </a:endParaRPr>
          </a:p>
          <a:p>
            <a:pPr marL="3670935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Arial MT"/>
                <a:cs typeface="Arial MT"/>
              </a:rPr>
              <a:t>ssn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b="1" spc="-35" dirty="0">
                <a:latin typeface="Arial"/>
                <a:cs typeface="Arial"/>
              </a:rPr>
              <a:t>VARCHAR2(11)</a:t>
            </a:r>
            <a:r>
              <a:rPr sz="2400" b="1" spc="10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NOT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NULL</a:t>
            </a:r>
            <a:r>
              <a:rPr sz="2400" spc="-5" dirty="0">
                <a:latin typeface="Arial MT"/>
                <a:cs typeface="Arial MT"/>
              </a:rPr>
              <a:t>,</a:t>
            </a:r>
            <a:endParaRPr sz="2400">
              <a:latin typeface="Arial MT"/>
              <a:cs typeface="Arial MT"/>
            </a:endParaRPr>
          </a:p>
          <a:p>
            <a:pPr marL="3670935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 MT"/>
                <a:cs typeface="Arial MT"/>
              </a:rPr>
              <a:t>since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b="1" spc="-50" dirty="0">
                <a:latin typeface="Arial"/>
                <a:cs typeface="Arial"/>
              </a:rPr>
              <a:t>DATE</a:t>
            </a:r>
            <a:r>
              <a:rPr sz="2400" spc="-50" dirty="0">
                <a:latin typeface="Arial MT"/>
                <a:cs typeface="Arial MT"/>
              </a:rPr>
              <a:t>,</a:t>
            </a:r>
            <a:endParaRPr sz="2400">
              <a:latin typeface="Arial MT"/>
              <a:cs typeface="Arial MT"/>
            </a:endParaRPr>
          </a:p>
          <a:p>
            <a:pPr marL="3670935">
              <a:lnSpc>
                <a:spcPct val="100000"/>
              </a:lnSpc>
              <a:spcBef>
                <a:spcPts val="580"/>
              </a:spcBef>
            </a:pPr>
            <a:r>
              <a:rPr sz="2400" b="1" spc="-30" dirty="0">
                <a:latin typeface="Arial"/>
                <a:cs typeface="Arial"/>
              </a:rPr>
              <a:t>PRIMARY</a:t>
            </a:r>
            <a:r>
              <a:rPr sz="2400" b="1" spc="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KEY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(did),</a:t>
            </a:r>
            <a:endParaRPr sz="2400">
              <a:latin typeface="Arial MT"/>
              <a:cs typeface="Arial MT"/>
            </a:endParaRPr>
          </a:p>
          <a:p>
            <a:pPr marL="3670935">
              <a:lnSpc>
                <a:spcPct val="100000"/>
              </a:lnSpc>
              <a:spcBef>
                <a:spcPts val="580"/>
              </a:spcBef>
            </a:pPr>
            <a:r>
              <a:rPr sz="2400" b="1" dirty="0">
                <a:latin typeface="Arial"/>
                <a:cs typeface="Arial"/>
              </a:rPr>
              <a:t>FOREIGN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KEY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(ssn)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b="1" spc="-5" dirty="0">
                <a:latin typeface="Arial"/>
                <a:cs typeface="Arial"/>
              </a:rPr>
              <a:t>REFERENCES</a:t>
            </a:r>
            <a:r>
              <a:rPr sz="2400" b="1" spc="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Employees</a:t>
            </a:r>
            <a:endParaRPr sz="2400">
              <a:latin typeface="Arial MT"/>
              <a:cs typeface="Arial MT"/>
            </a:endParaRPr>
          </a:p>
          <a:p>
            <a:pPr marL="4585335">
              <a:lnSpc>
                <a:spcPct val="100000"/>
              </a:lnSpc>
              <a:spcBef>
                <a:spcPts val="575"/>
              </a:spcBef>
            </a:pPr>
            <a:r>
              <a:rPr sz="2400" b="1" dirty="0">
                <a:latin typeface="Arial"/>
                <a:cs typeface="Arial"/>
              </a:rPr>
              <a:t>ON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DELETE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NO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b="1" spc="-15" dirty="0">
                <a:latin typeface="Arial"/>
                <a:cs typeface="Arial"/>
              </a:rPr>
              <a:t>ACTION</a:t>
            </a:r>
            <a:r>
              <a:rPr sz="2400" b="1" spc="6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4320"/>
            <a:ext cx="1325879" cy="6001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F8573784-B21D-49CC-95CE-C09B0B8D1317}" type="datetime1">
              <a:rPr lang="en-US" smtClean="0"/>
              <a:t>1/25/2023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738073"/>
            <a:ext cx="556323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Translating</a:t>
            </a:r>
            <a:r>
              <a:rPr spc="-15" dirty="0"/>
              <a:t> Weak</a:t>
            </a:r>
            <a:r>
              <a:rPr spc="-40" dirty="0"/>
              <a:t> </a:t>
            </a:r>
            <a:r>
              <a:rPr spc="-5" dirty="0"/>
              <a:t>Entity</a:t>
            </a:r>
            <a:r>
              <a:rPr dirty="0"/>
              <a:t> </a:t>
            </a:r>
            <a:r>
              <a:rPr spc="-5" dirty="0"/>
              <a:t>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4268265"/>
            <a:ext cx="10557510" cy="185483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5"/>
              </a:spcBef>
              <a:tabLst>
                <a:tab pos="6467475" algn="l"/>
              </a:tabLst>
            </a:pPr>
            <a:r>
              <a:rPr sz="2000" b="1" spc="-40" dirty="0">
                <a:latin typeface="Arial"/>
                <a:cs typeface="Arial"/>
              </a:rPr>
              <a:t>CREATE</a:t>
            </a:r>
            <a:r>
              <a:rPr sz="2000" b="1" spc="90" dirty="0">
                <a:latin typeface="Arial"/>
                <a:cs typeface="Arial"/>
              </a:rPr>
              <a:t> </a:t>
            </a:r>
            <a:r>
              <a:rPr sz="2000" b="1" spc="-45" dirty="0">
                <a:latin typeface="Arial"/>
                <a:cs typeface="Arial"/>
              </a:rPr>
              <a:t>TABLE</a:t>
            </a:r>
            <a:r>
              <a:rPr sz="2000" b="1" spc="9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Dep</a:t>
            </a:r>
            <a:r>
              <a:rPr sz="2000" b="1" spc="3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Policy</a:t>
            </a:r>
            <a:r>
              <a:rPr sz="2000" b="1" spc="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(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pname</a:t>
            </a:r>
            <a:r>
              <a:rPr sz="2000" b="1" spc="2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VARCHAR2(20),	</a:t>
            </a:r>
            <a:r>
              <a:rPr sz="2000" b="1" spc="-5" dirty="0">
                <a:latin typeface="Arial"/>
                <a:cs typeface="Arial"/>
              </a:rPr>
              <a:t>age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NUMBER,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cost</a:t>
            </a:r>
            <a:r>
              <a:rPr sz="2000" b="1" spc="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NUMBER(5,2),</a:t>
            </a:r>
            <a:endParaRPr sz="2000">
              <a:latin typeface="Arial"/>
              <a:cs typeface="Arial"/>
            </a:endParaRPr>
          </a:p>
          <a:p>
            <a:pPr marL="3670935">
              <a:lnSpc>
                <a:spcPct val="100000"/>
              </a:lnSpc>
              <a:spcBef>
                <a:spcPts val="480"/>
              </a:spcBef>
            </a:pPr>
            <a:r>
              <a:rPr sz="2000" b="1" spc="-10" dirty="0">
                <a:latin typeface="Arial"/>
                <a:cs typeface="Arial"/>
              </a:rPr>
              <a:t>ssn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CHAR(11),</a:t>
            </a:r>
            <a:endParaRPr sz="2000">
              <a:latin typeface="Arial"/>
              <a:cs typeface="Arial"/>
            </a:endParaRPr>
          </a:p>
          <a:p>
            <a:pPr marL="3670935">
              <a:lnSpc>
                <a:spcPct val="100000"/>
              </a:lnSpc>
              <a:spcBef>
                <a:spcPts val="484"/>
              </a:spcBef>
            </a:pPr>
            <a:r>
              <a:rPr sz="2000" b="1" spc="-25" dirty="0">
                <a:latin typeface="Arial"/>
                <a:cs typeface="Arial"/>
              </a:rPr>
              <a:t>PRIMARY</a:t>
            </a:r>
            <a:r>
              <a:rPr sz="2000" b="1" spc="1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KEY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(pname,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ssn),</a:t>
            </a:r>
            <a:endParaRPr sz="2000">
              <a:latin typeface="Arial MT"/>
              <a:cs typeface="Arial MT"/>
            </a:endParaRPr>
          </a:p>
          <a:p>
            <a:pPr marL="3670935">
              <a:lnSpc>
                <a:spcPct val="100000"/>
              </a:lnSpc>
              <a:spcBef>
                <a:spcPts val="480"/>
              </a:spcBef>
            </a:pPr>
            <a:r>
              <a:rPr sz="2000" b="1" spc="-5" dirty="0">
                <a:latin typeface="Arial"/>
                <a:cs typeface="Arial"/>
              </a:rPr>
              <a:t>FOREIGN</a:t>
            </a:r>
            <a:r>
              <a:rPr sz="2000" b="1" spc="2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KEY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(ssn)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spc="-5" dirty="0">
                <a:latin typeface="Arial"/>
                <a:cs typeface="Arial"/>
              </a:rPr>
              <a:t>REFERENCES</a:t>
            </a:r>
            <a:r>
              <a:rPr sz="2000" b="1" spc="75" dirty="0">
                <a:latin typeface="Arial"/>
                <a:cs typeface="Arial"/>
              </a:rPr>
              <a:t> </a:t>
            </a:r>
            <a:r>
              <a:rPr sz="2000" spc="-15" dirty="0">
                <a:latin typeface="Arial MT"/>
                <a:cs typeface="Arial MT"/>
              </a:rPr>
              <a:t>Employees</a:t>
            </a:r>
            <a:endParaRPr sz="2000">
              <a:latin typeface="Arial MT"/>
              <a:cs typeface="Arial MT"/>
            </a:endParaRPr>
          </a:p>
          <a:p>
            <a:pPr marL="3670935">
              <a:lnSpc>
                <a:spcPct val="100000"/>
              </a:lnSpc>
              <a:spcBef>
                <a:spcPts val="480"/>
              </a:spcBef>
            </a:pPr>
            <a:r>
              <a:rPr sz="2000" b="1" spc="-5" dirty="0">
                <a:latin typeface="Arial"/>
                <a:cs typeface="Arial"/>
              </a:rPr>
              <a:t>ON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DELETE</a:t>
            </a:r>
            <a:r>
              <a:rPr sz="2000" b="1" spc="20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CASCADE</a:t>
            </a:r>
            <a:r>
              <a:rPr sz="2000" b="1" spc="100" dirty="0"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4320"/>
            <a:ext cx="1325879" cy="600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9676" y="1796395"/>
            <a:ext cx="8124074" cy="177131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555365A5-FF17-42FB-8196-C3EC3BD5B38A}" type="datetime1">
              <a:rPr lang="en-US" smtClean="0"/>
              <a:t>1/25/2023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738073"/>
            <a:ext cx="187325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749044"/>
            <a:ext cx="5774055" cy="982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session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will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give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knowledge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about</a:t>
            </a:r>
            <a:endParaRPr sz="2400">
              <a:latin typeface="Arial MT"/>
              <a:cs typeface="Arial MT"/>
            </a:endParaRPr>
          </a:p>
          <a:p>
            <a:pPr marL="1009650" indent="-541020">
              <a:lnSpc>
                <a:spcPct val="100000"/>
              </a:lnSpc>
              <a:spcBef>
                <a:spcPts val="1775"/>
              </a:spcBef>
              <a:buChar char="•"/>
              <a:tabLst>
                <a:tab pos="1009650" algn="l"/>
                <a:tab pos="1010285" algn="l"/>
              </a:tabLst>
            </a:pPr>
            <a:r>
              <a:rPr sz="2400" dirty="0">
                <a:latin typeface="Arial MT"/>
                <a:cs typeface="Arial MT"/>
              </a:rPr>
              <a:t>ER-to-Relational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Mapping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74320"/>
            <a:ext cx="1325879" cy="6001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F44D5DDD-B1AC-416C-9AC2-A218905E3383}" type="datetime1">
              <a:rPr lang="en-US" smtClean="0"/>
              <a:t>1/25/2023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409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MT</vt:lpstr>
      <vt:lpstr>Calibri</vt:lpstr>
      <vt:lpstr>Office Theme</vt:lpstr>
      <vt:lpstr>Course code  Course title  Module  Topic</vt:lpstr>
      <vt:lpstr>Objectives</vt:lpstr>
      <vt:lpstr>Introduction</vt:lpstr>
      <vt:lpstr>Entity Sets to Tables</vt:lpstr>
      <vt:lpstr>Relationship Sets (without Constraints) to Tables</vt:lpstr>
      <vt:lpstr>Relationship Sets (without Constraints) to Tables</vt:lpstr>
      <vt:lpstr>Translating Relationship Sets with Key Constraints</vt:lpstr>
      <vt:lpstr>Translating Relationship Sets with Participation  Constraints</vt:lpstr>
      <vt:lpstr>Translating Relationship Sets with Participation  Constraints</vt:lpstr>
      <vt:lpstr>Translating Weak Entity Sets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sambireddy g</cp:lastModifiedBy>
  <cp:revision>1</cp:revision>
  <dcterms:created xsi:type="dcterms:W3CDTF">2023-01-25T06:11:17Z</dcterms:created>
  <dcterms:modified xsi:type="dcterms:W3CDTF">2023-01-25T06:19:06Z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2019-12-20T00:00:00Z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2023-01-25T00:00:00Z</vt:filetime>
  </property>
</Properties>
</file>